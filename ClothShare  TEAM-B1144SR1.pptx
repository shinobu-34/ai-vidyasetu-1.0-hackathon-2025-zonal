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8" r:id="rId5"/>
    <p:sldId id="266" r:id="rId6"/>
    <p:sldId id="269" r:id="rId7"/>
    <p:sldId id="263" r:id="rId8"/>
    <p:sldId id="271" r:id="rId9"/>
    <p:sldId id="270" r:id="rId10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FFDED-DE77-4B44-AF99-BA1E40191D69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FEBD8-28F2-47D7-8D56-2C2FD4B6EF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13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FEBD8-28F2-47D7-8D56-2C2FD4B6EF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20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4.jpeg"/><Relationship Id="rId4" Type="http://schemas.openxmlformats.org/officeDocument/2006/relationships/image" Target="../media/image4.png"/><Relationship Id="rId9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761" b="-3964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577211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3832312" y="0"/>
                </a:moveTo>
                <a:lnTo>
                  <a:pt x="0" y="0"/>
                </a:lnTo>
                <a:lnTo>
                  <a:pt x="0" y="3538692"/>
                </a:lnTo>
                <a:lnTo>
                  <a:pt x="3832312" y="3538692"/>
                </a:lnTo>
                <a:lnTo>
                  <a:pt x="3832312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-4023" r="-4023" b="-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0" y="0"/>
                </a:moveTo>
                <a:lnTo>
                  <a:pt x="3832312" y="0"/>
                </a:lnTo>
                <a:lnTo>
                  <a:pt x="3832312" y="3538692"/>
                </a:lnTo>
                <a:lnTo>
                  <a:pt x="0" y="3538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-4023" r="-4023" b="-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43578" y="48473"/>
            <a:ext cx="2494217" cy="1520330"/>
          </a:xfrm>
          <a:custGeom>
            <a:avLst/>
            <a:gdLst/>
            <a:ahLst/>
            <a:cxnLst/>
            <a:rect l="l" t="t" r="r" b="b"/>
            <a:pathLst>
              <a:path w="2494217" h="1520330">
                <a:moveTo>
                  <a:pt x="0" y="0"/>
                </a:moveTo>
                <a:lnTo>
                  <a:pt x="2494217" y="0"/>
                </a:lnTo>
                <a:lnTo>
                  <a:pt x="2494217" y="1520330"/>
                </a:lnTo>
                <a:lnTo>
                  <a:pt x="0" y="1520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77" r="-20117" b="-11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39494" y="200890"/>
            <a:ext cx="1985637" cy="779684"/>
          </a:xfrm>
          <a:custGeom>
            <a:avLst/>
            <a:gdLst/>
            <a:ahLst/>
            <a:cxnLst/>
            <a:rect l="l" t="t" r="r" b="b"/>
            <a:pathLst>
              <a:path w="1985637" h="779684">
                <a:moveTo>
                  <a:pt x="0" y="0"/>
                </a:moveTo>
                <a:lnTo>
                  <a:pt x="1985636" y="0"/>
                </a:lnTo>
                <a:lnTo>
                  <a:pt x="1985636" y="779684"/>
                </a:lnTo>
                <a:lnTo>
                  <a:pt x="0" y="779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4210" y="162790"/>
            <a:ext cx="1086056" cy="865910"/>
          </a:xfrm>
          <a:custGeom>
            <a:avLst/>
            <a:gdLst/>
            <a:ahLst/>
            <a:cxnLst/>
            <a:rect l="l" t="t" r="r" b="b"/>
            <a:pathLst>
              <a:path w="1086056" h="865910">
                <a:moveTo>
                  <a:pt x="0" y="0"/>
                </a:moveTo>
                <a:lnTo>
                  <a:pt x="1086057" y="0"/>
                </a:lnTo>
                <a:lnTo>
                  <a:pt x="108605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6252" y="162790"/>
            <a:ext cx="902097" cy="865910"/>
          </a:xfrm>
          <a:custGeom>
            <a:avLst/>
            <a:gdLst/>
            <a:ahLst/>
            <a:cxnLst/>
            <a:rect l="l" t="t" r="r" b="b"/>
            <a:pathLst>
              <a:path w="902097" h="865910">
                <a:moveTo>
                  <a:pt x="0" y="0"/>
                </a:moveTo>
                <a:lnTo>
                  <a:pt x="902097" y="0"/>
                </a:lnTo>
                <a:lnTo>
                  <a:pt x="90209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4711" y="808638"/>
            <a:ext cx="11922313" cy="166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4"/>
              </a:lnSpc>
            </a:pPr>
            <a:r>
              <a:rPr lang="en-US" sz="476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VIDYASETU 1.0 </a:t>
            </a:r>
            <a:r>
              <a:rPr lang="en-US" sz="47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—</a:t>
            </a:r>
          </a:p>
          <a:p>
            <a:pPr algn="ctr">
              <a:lnSpc>
                <a:spcPts val="6664"/>
              </a:lnSpc>
              <a:spcBef>
                <a:spcPct val="0"/>
              </a:spcBef>
            </a:pPr>
            <a:r>
              <a:rPr lang="en-US" sz="47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ZONALS PRESENTATION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68158" y="2845523"/>
            <a:ext cx="12775420" cy="590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8481" lvl="1" indent="-449240">
              <a:lnSpc>
                <a:spcPts val="5826"/>
              </a:lnSpc>
              <a:buFont typeface="Arial"/>
              <a:buChar char="•"/>
            </a:pPr>
            <a:endParaRPr lang="en-US" sz="416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98481" lvl="1" indent="-449240">
              <a:lnSpc>
                <a:spcPts val="5826"/>
              </a:lnSpc>
              <a:buFont typeface="Arial"/>
              <a:buChar char="•"/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PROJECT/CODE TITLE : </a:t>
            </a:r>
            <a:r>
              <a:rPr lang="en-US" sz="4161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CLOTHSHARE</a:t>
            </a:r>
          </a:p>
          <a:p>
            <a:pPr marL="898481" lvl="1" indent="-449240" algn="l">
              <a:lnSpc>
                <a:spcPts val="5826"/>
              </a:lnSpc>
              <a:buFont typeface="Arial"/>
              <a:buChar char="•"/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ID : </a:t>
            </a:r>
            <a:r>
              <a:rPr lang="en-US" sz="4161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B1144SR1</a:t>
            </a:r>
          </a:p>
          <a:p>
            <a:pPr marL="898481" lvl="1" indent="-449240" algn="l">
              <a:lnSpc>
                <a:spcPts val="5826"/>
              </a:lnSpc>
              <a:buFont typeface="Arial"/>
              <a:buChar char="•"/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N</a:t>
            </a:r>
            <a:r>
              <a:rPr lang="en-US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ame</a:t>
            </a: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4161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KV BERHAMPUR SENIOR 1</a:t>
            </a:r>
          </a:p>
          <a:p>
            <a:pPr marL="898481" lvl="1" indent="-449240" algn="l">
              <a:lnSpc>
                <a:spcPts val="5826"/>
              </a:lnSpc>
              <a:buFont typeface="Arial"/>
              <a:buChar char="•"/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: </a:t>
            </a:r>
            <a:r>
              <a:rPr lang="en-US" sz="4161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Senior</a:t>
            </a:r>
          </a:p>
          <a:p>
            <a:pPr marL="898481" lvl="1" indent="-449240" algn="l">
              <a:lnSpc>
                <a:spcPts val="5826"/>
              </a:lnSpc>
              <a:buFont typeface="Arial"/>
              <a:buChar char="•"/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School Name &amp; Region:</a:t>
            </a:r>
          </a:p>
          <a:p>
            <a:pPr marL="449241" lvl="1" algn="l">
              <a:lnSpc>
                <a:spcPts val="5826"/>
              </a:lnSpc>
            </a:pPr>
            <a:r>
              <a:rPr lang="en-US" sz="416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4161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PM SHRI KENDRIYA VIDYALAYA BERHAMPUR 	(BBSR REGION)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6161" y="0"/>
            <a:ext cx="5284946" cy="10287000"/>
          </a:xfrm>
          <a:custGeom>
            <a:avLst/>
            <a:gdLst/>
            <a:ahLst/>
            <a:cxnLst/>
            <a:rect l="l" t="t" r="r" b="b"/>
            <a:pathLst>
              <a:path w="5284946" h="10287000">
                <a:moveTo>
                  <a:pt x="0" y="0"/>
                </a:moveTo>
                <a:lnTo>
                  <a:pt x="5284946" y="0"/>
                </a:lnTo>
                <a:lnTo>
                  <a:pt x="52849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3724213"/>
            <a:ext cx="6597268" cy="256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0"/>
              </a:lnSpc>
              <a:spcBef>
                <a:spcPct val="0"/>
              </a:spcBef>
            </a:pPr>
            <a:r>
              <a:rPr lang="en-US" sz="735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of 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0" y="3390900"/>
            <a:ext cx="10934700" cy="11109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Minute Video Demonstration Of Our Project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 Of The Problem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Logic And Algorithm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Implementation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Demonstration Of Output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Faced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Adopted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01958" lvl="1" indent="-450979" algn="l">
              <a:lnSpc>
                <a:spcPts val="5848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848"/>
              </a:lnSpc>
            </a:pPr>
            <a:endParaRPr lang="en-US" sz="417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848"/>
              </a:lnSpc>
              <a:spcBef>
                <a:spcPct val="0"/>
              </a:spcBef>
            </a:pPr>
            <a:endParaRPr lang="en-US" sz="417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14577211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3832312" y="0"/>
                </a:moveTo>
                <a:lnTo>
                  <a:pt x="0" y="0"/>
                </a:lnTo>
                <a:lnTo>
                  <a:pt x="0" y="3538692"/>
                </a:lnTo>
                <a:lnTo>
                  <a:pt x="3832312" y="3538692"/>
                </a:lnTo>
                <a:lnTo>
                  <a:pt x="3832312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 l="-4023" r="-4023" b="-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43578" y="48473"/>
            <a:ext cx="2494217" cy="1520330"/>
          </a:xfrm>
          <a:custGeom>
            <a:avLst/>
            <a:gdLst/>
            <a:ahLst/>
            <a:cxnLst/>
            <a:rect l="l" t="t" r="r" b="b"/>
            <a:pathLst>
              <a:path w="2494217" h="1520330">
                <a:moveTo>
                  <a:pt x="0" y="0"/>
                </a:moveTo>
                <a:lnTo>
                  <a:pt x="2494217" y="0"/>
                </a:lnTo>
                <a:lnTo>
                  <a:pt x="2494217" y="1520330"/>
                </a:lnTo>
                <a:lnTo>
                  <a:pt x="0" y="152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77" r="-20117" b="-118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45957" y="200890"/>
            <a:ext cx="1985637" cy="779684"/>
          </a:xfrm>
          <a:custGeom>
            <a:avLst/>
            <a:gdLst/>
            <a:ahLst/>
            <a:cxnLst/>
            <a:rect l="l" t="t" r="r" b="b"/>
            <a:pathLst>
              <a:path w="1985637" h="779684">
                <a:moveTo>
                  <a:pt x="0" y="0"/>
                </a:moveTo>
                <a:lnTo>
                  <a:pt x="1985637" y="0"/>
                </a:lnTo>
                <a:lnTo>
                  <a:pt x="1985637" y="779684"/>
                </a:lnTo>
                <a:lnTo>
                  <a:pt x="0" y="779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56161" y="114664"/>
            <a:ext cx="1086056" cy="865910"/>
          </a:xfrm>
          <a:custGeom>
            <a:avLst/>
            <a:gdLst/>
            <a:ahLst/>
            <a:cxnLst/>
            <a:rect l="l" t="t" r="r" b="b"/>
            <a:pathLst>
              <a:path w="1086056" h="865910">
                <a:moveTo>
                  <a:pt x="0" y="0"/>
                </a:moveTo>
                <a:lnTo>
                  <a:pt x="1086056" y="0"/>
                </a:lnTo>
                <a:lnTo>
                  <a:pt x="1086056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39807" y="114664"/>
            <a:ext cx="902097" cy="865910"/>
          </a:xfrm>
          <a:custGeom>
            <a:avLst/>
            <a:gdLst/>
            <a:ahLst/>
            <a:cxnLst/>
            <a:rect l="l" t="t" r="r" b="b"/>
            <a:pathLst>
              <a:path w="902097" h="865910">
                <a:moveTo>
                  <a:pt x="0" y="0"/>
                </a:moveTo>
                <a:lnTo>
                  <a:pt x="902097" y="0"/>
                </a:lnTo>
                <a:lnTo>
                  <a:pt x="90209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1761" b="-3964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577211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3832312" y="0"/>
                </a:moveTo>
                <a:lnTo>
                  <a:pt x="0" y="0"/>
                </a:lnTo>
                <a:lnTo>
                  <a:pt x="0" y="3538692"/>
                </a:lnTo>
                <a:lnTo>
                  <a:pt x="3832312" y="3538692"/>
                </a:lnTo>
                <a:lnTo>
                  <a:pt x="3832312" y="0"/>
                </a:lnTo>
                <a:close/>
              </a:path>
            </a:pathLst>
          </a:custGeom>
          <a:blipFill>
            <a:blip r:embed="rId4">
              <a:alphaModFix amt="44999"/>
            </a:blip>
            <a:stretch>
              <a:fillRect l="-4023" r="-4023" b="-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0" y="0"/>
                </a:moveTo>
                <a:lnTo>
                  <a:pt x="3832312" y="0"/>
                </a:lnTo>
                <a:lnTo>
                  <a:pt x="3832312" y="3538692"/>
                </a:lnTo>
                <a:lnTo>
                  <a:pt x="0" y="35386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l="-4023" r="-4023" b="-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43578" y="48473"/>
            <a:ext cx="2494217" cy="1520330"/>
          </a:xfrm>
          <a:custGeom>
            <a:avLst/>
            <a:gdLst/>
            <a:ahLst/>
            <a:cxnLst/>
            <a:rect l="l" t="t" r="r" b="b"/>
            <a:pathLst>
              <a:path w="2494217" h="1520330">
                <a:moveTo>
                  <a:pt x="0" y="0"/>
                </a:moveTo>
                <a:lnTo>
                  <a:pt x="2494217" y="0"/>
                </a:lnTo>
                <a:lnTo>
                  <a:pt x="2494217" y="1520330"/>
                </a:lnTo>
                <a:lnTo>
                  <a:pt x="0" y="152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77" r="-20117" b="-118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39494" y="200890"/>
            <a:ext cx="1985637" cy="779684"/>
          </a:xfrm>
          <a:custGeom>
            <a:avLst/>
            <a:gdLst/>
            <a:ahLst/>
            <a:cxnLst/>
            <a:rect l="l" t="t" r="r" b="b"/>
            <a:pathLst>
              <a:path w="1985637" h="779684">
                <a:moveTo>
                  <a:pt x="0" y="0"/>
                </a:moveTo>
                <a:lnTo>
                  <a:pt x="1985636" y="0"/>
                </a:lnTo>
                <a:lnTo>
                  <a:pt x="1985636" y="779684"/>
                </a:lnTo>
                <a:lnTo>
                  <a:pt x="0" y="779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4210" y="162790"/>
            <a:ext cx="1086056" cy="865910"/>
          </a:xfrm>
          <a:custGeom>
            <a:avLst/>
            <a:gdLst/>
            <a:ahLst/>
            <a:cxnLst/>
            <a:rect l="l" t="t" r="r" b="b"/>
            <a:pathLst>
              <a:path w="1086056" h="865910">
                <a:moveTo>
                  <a:pt x="0" y="0"/>
                </a:moveTo>
                <a:lnTo>
                  <a:pt x="1086057" y="0"/>
                </a:lnTo>
                <a:lnTo>
                  <a:pt x="108605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6252" y="162790"/>
            <a:ext cx="902097" cy="865910"/>
          </a:xfrm>
          <a:custGeom>
            <a:avLst/>
            <a:gdLst/>
            <a:ahLst/>
            <a:cxnLst/>
            <a:rect l="l" t="t" r="r" b="b"/>
            <a:pathLst>
              <a:path w="902097" h="865910">
                <a:moveTo>
                  <a:pt x="0" y="0"/>
                </a:moveTo>
                <a:lnTo>
                  <a:pt x="902097" y="0"/>
                </a:lnTo>
                <a:lnTo>
                  <a:pt x="90209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53325" y="1310658"/>
            <a:ext cx="13359773" cy="1439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8"/>
              </a:lnSpc>
              <a:spcBef>
                <a:spcPct val="0"/>
              </a:spcBef>
            </a:pPr>
            <a:r>
              <a:rPr lang="en-US" sz="417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UNDERSTANDING OF THE PROBLEM</a:t>
            </a:r>
          </a:p>
          <a:p>
            <a:pPr algn="ctr">
              <a:lnSpc>
                <a:spcPts val="5848"/>
              </a:lnSpc>
              <a:spcBef>
                <a:spcPct val="0"/>
              </a:spcBef>
            </a:pPr>
            <a:endParaRPr lang="en-US" sz="417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9094" y="2618828"/>
            <a:ext cx="15468599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Clothes Share</a:t>
            </a:r>
            <a:r>
              <a:rPr lang="en-US" sz="3200" dirty="0"/>
              <a:t> is a Web/Mobile app that solves textile waste by creating a </a:t>
            </a:r>
            <a:r>
              <a:rPr lang="en-US" sz="3200" b="1" dirty="0"/>
              <a:t>digital catalogue ,</a:t>
            </a:r>
            <a:r>
              <a:rPr lang="en-US" sz="3200" dirty="0"/>
              <a:t> primarily for donation centers across the country to aid them in their proceedings.</a:t>
            </a:r>
          </a:p>
          <a:p>
            <a:endParaRPr lang="en-US" sz="3200" dirty="0"/>
          </a:p>
          <a:p>
            <a:r>
              <a:rPr lang="en-US" sz="3200" b="1" dirty="0"/>
              <a:t>Our platform offers</a:t>
            </a:r>
            <a:r>
              <a:rPr lang="en-US" sz="32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Quick Donation:</a:t>
            </a:r>
            <a:r>
              <a:rPr lang="en-US" sz="3200" dirty="0"/>
              <a:t> Easy form submission with photo, size, and condition details.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Secure Claiming:</a:t>
            </a:r>
            <a:r>
              <a:rPr lang="en-US" sz="3200" dirty="0"/>
              <a:t> A dynamic catalogue with required contact confirmation for seamless pickup coordination.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AI Style Inspiration:</a:t>
            </a:r>
            <a:r>
              <a:rPr lang="en-US" sz="3200" dirty="0"/>
              <a:t> Uses camera input and AI to suggest complementary items from the catalogue, maximizing clothing reuse.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Gamified Sustainability:</a:t>
            </a:r>
            <a:r>
              <a:rPr lang="en-US" sz="3200" dirty="0"/>
              <a:t> Robust user tracking and points system to reward donation and engagement.</a:t>
            </a:r>
          </a:p>
          <a:p>
            <a:endParaRPr lang="en-US" sz="3200" dirty="0"/>
          </a:p>
          <a:p>
            <a:r>
              <a:rPr lang="en-US" sz="3200" b="1" dirty="0"/>
              <a:t>Clothes Share: Transforming unused clothes into shared, sustainable style, Eliminating Donation friction along with it.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0A40-EA38-BBFC-D533-517496B0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FA3A7D-7B37-3A72-5D20-CA9E64D4E3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1761" b="-3964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5BABE0-56D7-5435-34FA-456D8AFD3202}"/>
              </a:ext>
            </a:extLst>
          </p:cNvPr>
          <p:cNvSpPr/>
          <p:nvPr/>
        </p:nvSpPr>
        <p:spPr>
          <a:xfrm flipH="1">
            <a:off x="14577211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3832312" y="0"/>
                </a:moveTo>
                <a:lnTo>
                  <a:pt x="0" y="0"/>
                </a:lnTo>
                <a:lnTo>
                  <a:pt x="0" y="3538692"/>
                </a:lnTo>
                <a:lnTo>
                  <a:pt x="3832312" y="3538692"/>
                </a:lnTo>
                <a:lnTo>
                  <a:pt x="3832312" y="0"/>
                </a:lnTo>
                <a:close/>
              </a:path>
            </a:pathLst>
          </a:custGeom>
          <a:blipFill>
            <a:blip r:embed="rId3">
              <a:alphaModFix amt="44999"/>
            </a:blip>
            <a:stretch>
              <a:fillRect l="-4023" r="-4023" b="-7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58562D-14C0-F83E-3C74-F85AD42BE342}"/>
              </a:ext>
            </a:extLst>
          </p:cNvPr>
          <p:cNvSpPr/>
          <p:nvPr/>
        </p:nvSpPr>
        <p:spPr>
          <a:xfrm>
            <a:off x="0" y="0"/>
            <a:ext cx="3832312" cy="3538692"/>
          </a:xfrm>
          <a:custGeom>
            <a:avLst/>
            <a:gdLst/>
            <a:ahLst/>
            <a:cxnLst/>
            <a:rect l="l" t="t" r="r" b="b"/>
            <a:pathLst>
              <a:path w="3832312" h="3538692">
                <a:moveTo>
                  <a:pt x="0" y="0"/>
                </a:moveTo>
                <a:lnTo>
                  <a:pt x="3832312" y="0"/>
                </a:lnTo>
                <a:lnTo>
                  <a:pt x="3832312" y="3538692"/>
                </a:lnTo>
                <a:lnTo>
                  <a:pt x="0" y="3538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 l="-4023" r="-4023" b="-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E6C64B3-C8F4-D3B2-D71C-26AD68A99206}"/>
              </a:ext>
            </a:extLst>
          </p:cNvPr>
          <p:cNvSpPr/>
          <p:nvPr/>
        </p:nvSpPr>
        <p:spPr>
          <a:xfrm>
            <a:off x="15643578" y="48473"/>
            <a:ext cx="2494217" cy="1520330"/>
          </a:xfrm>
          <a:custGeom>
            <a:avLst/>
            <a:gdLst/>
            <a:ahLst/>
            <a:cxnLst/>
            <a:rect l="l" t="t" r="r" b="b"/>
            <a:pathLst>
              <a:path w="2494217" h="1520330">
                <a:moveTo>
                  <a:pt x="0" y="0"/>
                </a:moveTo>
                <a:lnTo>
                  <a:pt x="2494217" y="0"/>
                </a:lnTo>
                <a:lnTo>
                  <a:pt x="2494217" y="1520330"/>
                </a:lnTo>
                <a:lnTo>
                  <a:pt x="0" y="1520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77" r="-20117" b="-1187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911952E-E0EF-FF57-E888-927A8F0C19E5}"/>
              </a:ext>
            </a:extLst>
          </p:cNvPr>
          <p:cNvSpPr/>
          <p:nvPr/>
        </p:nvSpPr>
        <p:spPr>
          <a:xfrm>
            <a:off x="2839494" y="200890"/>
            <a:ext cx="1985637" cy="779684"/>
          </a:xfrm>
          <a:custGeom>
            <a:avLst/>
            <a:gdLst/>
            <a:ahLst/>
            <a:cxnLst/>
            <a:rect l="l" t="t" r="r" b="b"/>
            <a:pathLst>
              <a:path w="1985637" h="779684">
                <a:moveTo>
                  <a:pt x="0" y="0"/>
                </a:moveTo>
                <a:lnTo>
                  <a:pt x="1985636" y="0"/>
                </a:lnTo>
                <a:lnTo>
                  <a:pt x="1985636" y="779684"/>
                </a:lnTo>
                <a:lnTo>
                  <a:pt x="0" y="779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3CF0CC7-9961-C320-751E-1ED3F4670871}"/>
              </a:ext>
            </a:extLst>
          </p:cNvPr>
          <p:cNvSpPr/>
          <p:nvPr/>
        </p:nvSpPr>
        <p:spPr>
          <a:xfrm>
            <a:off x="404210" y="162790"/>
            <a:ext cx="1086056" cy="865910"/>
          </a:xfrm>
          <a:custGeom>
            <a:avLst/>
            <a:gdLst/>
            <a:ahLst/>
            <a:cxnLst/>
            <a:rect l="l" t="t" r="r" b="b"/>
            <a:pathLst>
              <a:path w="1086056" h="865910">
                <a:moveTo>
                  <a:pt x="0" y="0"/>
                </a:moveTo>
                <a:lnTo>
                  <a:pt x="1086057" y="0"/>
                </a:lnTo>
                <a:lnTo>
                  <a:pt x="108605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DBC941-3B1F-DB89-6A89-CAD6D3CAB72C}"/>
              </a:ext>
            </a:extLst>
          </p:cNvPr>
          <p:cNvSpPr/>
          <p:nvPr/>
        </p:nvSpPr>
        <p:spPr>
          <a:xfrm>
            <a:off x="1656252" y="162790"/>
            <a:ext cx="902097" cy="865910"/>
          </a:xfrm>
          <a:custGeom>
            <a:avLst/>
            <a:gdLst/>
            <a:ahLst/>
            <a:cxnLst/>
            <a:rect l="l" t="t" r="r" b="b"/>
            <a:pathLst>
              <a:path w="902097" h="865910">
                <a:moveTo>
                  <a:pt x="0" y="0"/>
                </a:moveTo>
                <a:lnTo>
                  <a:pt x="902097" y="0"/>
                </a:lnTo>
                <a:lnTo>
                  <a:pt x="902097" y="865910"/>
                </a:lnTo>
                <a:lnTo>
                  <a:pt x="0" y="86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6530AA-5B9D-511A-B2E5-C92D2B8CDF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8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CA0C-AD1F-1077-729A-980FC38D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84A491-C605-1016-49B1-06AEBDD2A2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E017C6B-7571-FBF1-AC45-016F6F7AE5B3}"/>
              </a:ext>
            </a:extLst>
          </p:cNvPr>
          <p:cNvSpPr/>
          <p:nvPr/>
        </p:nvSpPr>
        <p:spPr>
          <a:xfrm flipH="1">
            <a:off x="13288324" y="5748159"/>
            <a:ext cx="4999676" cy="4616616"/>
          </a:xfrm>
          <a:custGeom>
            <a:avLst/>
            <a:gdLst/>
            <a:ahLst/>
            <a:cxnLst/>
            <a:rect l="l" t="t" r="r" b="b"/>
            <a:pathLst>
              <a:path w="4999676" h="4616616">
                <a:moveTo>
                  <a:pt x="4999676" y="0"/>
                </a:moveTo>
                <a:lnTo>
                  <a:pt x="0" y="0"/>
                </a:lnTo>
                <a:lnTo>
                  <a:pt x="0" y="4616616"/>
                </a:lnTo>
                <a:lnTo>
                  <a:pt x="4999676" y="4616616"/>
                </a:lnTo>
                <a:lnTo>
                  <a:pt x="4999676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-4023" r="-4023" b="-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041683A-1AC2-5589-0DAC-3A7AFE210903}"/>
              </a:ext>
            </a:extLst>
          </p:cNvPr>
          <p:cNvSpPr/>
          <p:nvPr/>
        </p:nvSpPr>
        <p:spPr>
          <a:xfrm>
            <a:off x="14962660" y="446511"/>
            <a:ext cx="2965344" cy="1164378"/>
          </a:xfrm>
          <a:custGeom>
            <a:avLst/>
            <a:gdLst/>
            <a:ahLst/>
            <a:cxnLst/>
            <a:rect l="l" t="t" r="r" b="b"/>
            <a:pathLst>
              <a:path w="2965344" h="1164378">
                <a:moveTo>
                  <a:pt x="0" y="0"/>
                </a:moveTo>
                <a:lnTo>
                  <a:pt x="2965344" y="0"/>
                </a:lnTo>
                <a:lnTo>
                  <a:pt x="2965344" y="1164378"/>
                </a:lnTo>
                <a:lnTo>
                  <a:pt x="0" y="116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5EB35B-E03D-3266-6F97-DA0A5DE6709B}"/>
              </a:ext>
            </a:extLst>
          </p:cNvPr>
          <p:cNvSpPr/>
          <p:nvPr/>
        </p:nvSpPr>
        <p:spPr>
          <a:xfrm>
            <a:off x="404210" y="452163"/>
            <a:ext cx="1621914" cy="1293147"/>
          </a:xfrm>
          <a:custGeom>
            <a:avLst/>
            <a:gdLst/>
            <a:ahLst/>
            <a:cxnLst/>
            <a:rect l="l" t="t" r="r" b="b"/>
            <a:pathLst>
              <a:path w="1621914" h="1293147">
                <a:moveTo>
                  <a:pt x="0" y="0"/>
                </a:moveTo>
                <a:lnTo>
                  <a:pt x="1621914" y="0"/>
                </a:lnTo>
                <a:lnTo>
                  <a:pt x="1621914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82D4D3E-1B34-3CE1-EF57-8803BEC865F8}"/>
              </a:ext>
            </a:extLst>
          </p:cNvPr>
          <p:cNvSpPr/>
          <p:nvPr/>
        </p:nvSpPr>
        <p:spPr>
          <a:xfrm>
            <a:off x="2274006" y="452163"/>
            <a:ext cx="1347189" cy="1293147"/>
          </a:xfrm>
          <a:custGeom>
            <a:avLst/>
            <a:gdLst/>
            <a:ahLst/>
            <a:cxnLst/>
            <a:rect l="l" t="t" r="r" b="b"/>
            <a:pathLst>
              <a:path w="1347189" h="1293147">
                <a:moveTo>
                  <a:pt x="0" y="0"/>
                </a:moveTo>
                <a:lnTo>
                  <a:pt x="1347189" y="0"/>
                </a:lnTo>
                <a:lnTo>
                  <a:pt x="1347189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E3F8A7-07CB-E411-AF2C-060DB28492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7" y="2412351"/>
            <a:ext cx="8764467" cy="4842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F63C7F-FCDB-425E-21CB-94A763E504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12"/>
          <a:stretch>
            <a:fillRect/>
          </a:stretch>
        </p:blipFill>
        <p:spPr>
          <a:xfrm>
            <a:off x="9365439" y="2412352"/>
            <a:ext cx="8618411" cy="48426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FEC0A9-42CF-2AC9-ECDD-6C4DE1AB02BF}"/>
              </a:ext>
            </a:extLst>
          </p:cNvPr>
          <p:cNvSpPr txBox="1"/>
          <p:nvPr/>
        </p:nvSpPr>
        <p:spPr>
          <a:xfrm>
            <a:off x="251176" y="7907255"/>
            <a:ext cx="8764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It sends the image to Google Gemini with a structured prompt to force a JSON response</a:t>
            </a:r>
            <a:endParaRPr lang="en-IN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EC84F-812C-FF67-3AEB-5857CE83DF4B}"/>
              </a:ext>
            </a:extLst>
          </p:cNvPr>
          <p:cNvSpPr txBox="1"/>
          <p:nvPr/>
        </p:nvSpPr>
        <p:spPr>
          <a:xfrm>
            <a:off x="9390805" y="7694399"/>
            <a:ext cx="8562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This snippet ensures users don't upload random pictures (like a toaster) to the clothing donation platform.</a:t>
            </a:r>
            <a:endParaRPr lang="en-IN" sz="3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C33204-89F1-8AAC-687E-28F0EB146BF6}"/>
              </a:ext>
            </a:extLst>
          </p:cNvPr>
          <p:cNvSpPr txBox="1"/>
          <p:nvPr/>
        </p:nvSpPr>
        <p:spPr>
          <a:xfrm>
            <a:off x="6179663" y="876996"/>
            <a:ext cx="6371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CORE CODE SNIPPETS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68336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ABAE-181B-DA65-53A6-F76B7439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17689-3579-F171-D0C0-C109BA0DEF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D9D096-FE61-79E7-CCB5-A46CAB6C5213}"/>
              </a:ext>
            </a:extLst>
          </p:cNvPr>
          <p:cNvSpPr/>
          <p:nvPr/>
        </p:nvSpPr>
        <p:spPr>
          <a:xfrm flipH="1">
            <a:off x="13524356" y="5863448"/>
            <a:ext cx="4999676" cy="4616616"/>
          </a:xfrm>
          <a:custGeom>
            <a:avLst/>
            <a:gdLst/>
            <a:ahLst/>
            <a:cxnLst/>
            <a:rect l="l" t="t" r="r" b="b"/>
            <a:pathLst>
              <a:path w="4999676" h="4616616">
                <a:moveTo>
                  <a:pt x="4999676" y="0"/>
                </a:moveTo>
                <a:lnTo>
                  <a:pt x="0" y="0"/>
                </a:lnTo>
                <a:lnTo>
                  <a:pt x="0" y="4616616"/>
                </a:lnTo>
                <a:lnTo>
                  <a:pt x="4999676" y="4616616"/>
                </a:lnTo>
                <a:lnTo>
                  <a:pt x="4999676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-4023" r="-4023" b="-7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D6EB5BA-3742-C698-FF94-BE8CA62E4E7D}"/>
              </a:ext>
            </a:extLst>
          </p:cNvPr>
          <p:cNvSpPr/>
          <p:nvPr/>
        </p:nvSpPr>
        <p:spPr>
          <a:xfrm>
            <a:off x="0" y="5054637"/>
            <a:ext cx="5875597" cy="5425426"/>
          </a:xfrm>
          <a:custGeom>
            <a:avLst/>
            <a:gdLst/>
            <a:ahLst/>
            <a:cxnLst/>
            <a:rect l="l" t="t" r="r" b="b"/>
            <a:pathLst>
              <a:path w="5875597" h="5425426">
                <a:moveTo>
                  <a:pt x="0" y="0"/>
                </a:moveTo>
                <a:lnTo>
                  <a:pt x="5875597" y="0"/>
                </a:lnTo>
                <a:lnTo>
                  <a:pt x="5875597" y="5425427"/>
                </a:lnTo>
                <a:lnTo>
                  <a:pt x="0" y="542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-4023" r="-4023" b="-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BA9BCCE-C347-0F6A-9E0A-C11E6EC9C720}"/>
              </a:ext>
            </a:extLst>
          </p:cNvPr>
          <p:cNvSpPr/>
          <p:nvPr/>
        </p:nvSpPr>
        <p:spPr>
          <a:xfrm>
            <a:off x="14962660" y="446511"/>
            <a:ext cx="2965344" cy="1164378"/>
          </a:xfrm>
          <a:custGeom>
            <a:avLst/>
            <a:gdLst/>
            <a:ahLst/>
            <a:cxnLst/>
            <a:rect l="l" t="t" r="r" b="b"/>
            <a:pathLst>
              <a:path w="2965344" h="1164378">
                <a:moveTo>
                  <a:pt x="0" y="0"/>
                </a:moveTo>
                <a:lnTo>
                  <a:pt x="2965344" y="0"/>
                </a:lnTo>
                <a:lnTo>
                  <a:pt x="2965344" y="1164378"/>
                </a:lnTo>
                <a:lnTo>
                  <a:pt x="0" y="116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51F4A30-AA55-A5F2-5A9A-2E04CFA29140}"/>
              </a:ext>
            </a:extLst>
          </p:cNvPr>
          <p:cNvSpPr/>
          <p:nvPr/>
        </p:nvSpPr>
        <p:spPr>
          <a:xfrm>
            <a:off x="404210" y="452163"/>
            <a:ext cx="1621914" cy="1293147"/>
          </a:xfrm>
          <a:custGeom>
            <a:avLst/>
            <a:gdLst/>
            <a:ahLst/>
            <a:cxnLst/>
            <a:rect l="l" t="t" r="r" b="b"/>
            <a:pathLst>
              <a:path w="1621914" h="1293147">
                <a:moveTo>
                  <a:pt x="0" y="0"/>
                </a:moveTo>
                <a:lnTo>
                  <a:pt x="1621914" y="0"/>
                </a:lnTo>
                <a:lnTo>
                  <a:pt x="1621914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B558B39-2F84-9EE6-904A-7EA1FF829496}"/>
              </a:ext>
            </a:extLst>
          </p:cNvPr>
          <p:cNvSpPr/>
          <p:nvPr/>
        </p:nvSpPr>
        <p:spPr>
          <a:xfrm>
            <a:off x="2274006" y="452163"/>
            <a:ext cx="1347189" cy="1293147"/>
          </a:xfrm>
          <a:custGeom>
            <a:avLst/>
            <a:gdLst/>
            <a:ahLst/>
            <a:cxnLst/>
            <a:rect l="l" t="t" r="r" b="b"/>
            <a:pathLst>
              <a:path w="1347189" h="1293147">
                <a:moveTo>
                  <a:pt x="0" y="0"/>
                </a:moveTo>
                <a:lnTo>
                  <a:pt x="1347189" y="0"/>
                </a:lnTo>
                <a:lnTo>
                  <a:pt x="1347189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970609-5D5F-91A0-A864-A19D42C98E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326" y="2755069"/>
            <a:ext cx="5409892" cy="5588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9EEDA1-63FB-6D01-E4C2-D0CC3158CD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98" y="2751677"/>
            <a:ext cx="5145653" cy="55888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F39538-BE97-261B-5647-C91EF72C98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579" y="3483514"/>
            <a:ext cx="3543300" cy="39528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CBB620-2EB6-2273-E7DD-2BA8D69EAF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212" y="3483514"/>
            <a:ext cx="3524250" cy="39528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9C9831-A050-4276-77DF-CF0FD8682E91}"/>
              </a:ext>
            </a:extLst>
          </p:cNvPr>
          <p:cNvSpPr txBox="1"/>
          <p:nvPr/>
        </p:nvSpPr>
        <p:spPr>
          <a:xfrm>
            <a:off x="4215567" y="792916"/>
            <a:ext cx="98568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DEMONSTRATION OF OUTPUT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63385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" y="-762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24356" y="5863448"/>
            <a:ext cx="4999676" cy="4616616"/>
          </a:xfrm>
          <a:custGeom>
            <a:avLst/>
            <a:gdLst/>
            <a:ahLst/>
            <a:cxnLst/>
            <a:rect l="l" t="t" r="r" b="b"/>
            <a:pathLst>
              <a:path w="4999676" h="4616616">
                <a:moveTo>
                  <a:pt x="4999676" y="0"/>
                </a:moveTo>
                <a:lnTo>
                  <a:pt x="0" y="0"/>
                </a:lnTo>
                <a:lnTo>
                  <a:pt x="0" y="4616616"/>
                </a:lnTo>
                <a:lnTo>
                  <a:pt x="4999676" y="4616616"/>
                </a:lnTo>
                <a:lnTo>
                  <a:pt x="4999676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-4023" r="-4023" b="-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5054637"/>
            <a:ext cx="5875597" cy="5425426"/>
          </a:xfrm>
          <a:custGeom>
            <a:avLst/>
            <a:gdLst/>
            <a:ahLst/>
            <a:cxnLst/>
            <a:rect l="l" t="t" r="r" b="b"/>
            <a:pathLst>
              <a:path w="5875597" h="5425426">
                <a:moveTo>
                  <a:pt x="0" y="0"/>
                </a:moveTo>
                <a:lnTo>
                  <a:pt x="5875597" y="0"/>
                </a:lnTo>
                <a:lnTo>
                  <a:pt x="5875597" y="5425427"/>
                </a:lnTo>
                <a:lnTo>
                  <a:pt x="0" y="542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-4023" r="-4023" b="-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62660" y="446511"/>
            <a:ext cx="2965344" cy="1164378"/>
          </a:xfrm>
          <a:custGeom>
            <a:avLst/>
            <a:gdLst/>
            <a:ahLst/>
            <a:cxnLst/>
            <a:rect l="l" t="t" r="r" b="b"/>
            <a:pathLst>
              <a:path w="2965344" h="1164378">
                <a:moveTo>
                  <a:pt x="0" y="0"/>
                </a:moveTo>
                <a:lnTo>
                  <a:pt x="2965344" y="0"/>
                </a:lnTo>
                <a:lnTo>
                  <a:pt x="2965344" y="1164378"/>
                </a:lnTo>
                <a:lnTo>
                  <a:pt x="0" y="116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04210" y="452163"/>
            <a:ext cx="1621914" cy="1293147"/>
          </a:xfrm>
          <a:custGeom>
            <a:avLst/>
            <a:gdLst/>
            <a:ahLst/>
            <a:cxnLst/>
            <a:rect l="l" t="t" r="r" b="b"/>
            <a:pathLst>
              <a:path w="1621914" h="1293147">
                <a:moveTo>
                  <a:pt x="0" y="0"/>
                </a:moveTo>
                <a:lnTo>
                  <a:pt x="1621914" y="0"/>
                </a:lnTo>
                <a:lnTo>
                  <a:pt x="1621914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74006" y="452163"/>
            <a:ext cx="1347189" cy="1293147"/>
          </a:xfrm>
          <a:custGeom>
            <a:avLst/>
            <a:gdLst/>
            <a:ahLst/>
            <a:cxnLst/>
            <a:rect l="l" t="t" r="r" b="b"/>
            <a:pathLst>
              <a:path w="1347189" h="1293147">
                <a:moveTo>
                  <a:pt x="0" y="0"/>
                </a:moveTo>
                <a:lnTo>
                  <a:pt x="1347189" y="0"/>
                </a:lnTo>
                <a:lnTo>
                  <a:pt x="1347189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76800" y="867096"/>
            <a:ext cx="81534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Canva Sans" panose="020B0604020202020204" charset="0"/>
                <a:ea typeface="Canva Sans Bold"/>
                <a:cs typeface="Canva Sans Bold"/>
                <a:sym typeface="Canva Sans Bold"/>
              </a:rPr>
              <a:t>CHALLENGES FACED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92C4D-9E20-198B-CB7E-F85FCE76E2EC}"/>
              </a:ext>
            </a:extLst>
          </p:cNvPr>
          <p:cNvSpPr txBox="1"/>
          <p:nvPr/>
        </p:nvSpPr>
        <p:spPr>
          <a:xfrm>
            <a:off x="914400" y="2485605"/>
            <a:ext cx="17166004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/>
          </a:p>
          <a:p>
            <a:r>
              <a:rPr lang="en-US" sz="3600" b="1" dirty="0"/>
              <a:t>Technical:</a:t>
            </a:r>
            <a:r>
              <a:rPr lang="en-US" sz="3600" dirty="0"/>
              <a:t> Integrating the </a:t>
            </a:r>
            <a:r>
              <a:rPr lang="en-US" sz="3600" b="1" dirty="0"/>
              <a:t>AI Vision API</a:t>
            </a:r>
            <a:r>
              <a:rPr lang="en-US" sz="3600" dirty="0"/>
              <a:t> for accurate garment and color identification was difficult, as was managing the </a:t>
            </a:r>
            <a:r>
              <a:rPr lang="en-US" sz="3600" b="1" dirty="0"/>
              <a:t>real-time dynamic updates</a:t>
            </a:r>
            <a:r>
              <a:rPr lang="en-US" sz="3600" dirty="0"/>
              <a:t> across the catalogue without performance lag.</a:t>
            </a:r>
          </a:p>
          <a:p>
            <a:endParaRPr lang="en-US" sz="3600" b="1" dirty="0"/>
          </a:p>
          <a:p>
            <a:r>
              <a:rPr lang="en-US" sz="3600" b="1" dirty="0"/>
              <a:t>Logical:</a:t>
            </a:r>
            <a:r>
              <a:rPr lang="en-US" sz="3600" dirty="0"/>
              <a:t> Designing fair logic to prevent </a:t>
            </a:r>
            <a:r>
              <a:rPr lang="en-US" sz="3600" b="1" dirty="0"/>
              <a:t>"claim sniping"</a:t>
            </a:r>
            <a:r>
              <a:rPr lang="en-US" sz="3600" dirty="0"/>
              <a:t> (bots claiming items instantly) and properly </a:t>
            </a:r>
            <a:r>
              <a:rPr lang="en-US" sz="3600" b="1" dirty="0"/>
              <a:t>balancing the gamified points</a:t>
            </a:r>
            <a:r>
              <a:rPr lang="en-US" sz="3600" dirty="0"/>
              <a:t> system to favor donation were key hurdles.</a:t>
            </a:r>
          </a:p>
          <a:p>
            <a:endParaRPr lang="en-US" sz="3600" dirty="0"/>
          </a:p>
          <a:p>
            <a:r>
              <a:rPr lang="en-US" sz="3600" b="1" dirty="0"/>
              <a:t>Debugging:</a:t>
            </a:r>
            <a:r>
              <a:rPr lang="en-US" sz="3600" dirty="0"/>
              <a:t> The most complex debugging related to </a:t>
            </a:r>
            <a:r>
              <a:rPr lang="en-US" sz="3600" b="1" dirty="0"/>
              <a:t>asynchronous race conditions</a:t>
            </a:r>
            <a:r>
              <a:rPr lang="en-US" sz="3600" dirty="0"/>
              <a:t>—ensuring the database correctly handled simultaneous claim attempts on the same item with transaction locking.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886E-E1B9-DFAA-0550-E8FBBC10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6DA8DF-B5E1-DAB7-E9B7-FADC06FEF6AB}"/>
              </a:ext>
            </a:extLst>
          </p:cNvPr>
          <p:cNvSpPr/>
          <p:nvPr/>
        </p:nvSpPr>
        <p:spPr>
          <a:xfrm>
            <a:off x="4916" y="-888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E23B32F-C4A2-88C6-48DB-D9C72237D734}"/>
              </a:ext>
            </a:extLst>
          </p:cNvPr>
          <p:cNvSpPr/>
          <p:nvPr/>
        </p:nvSpPr>
        <p:spPr>
          <a:xfrm flipH="1">
            <a:off x="13524356" y="5863448"/>
            <a:ext cx="4999676" cy="4616616"/>
          </a:xfrm>
          <a:custGeom>
            <a:avLst/>
            <a:gdLst/>
            <a:ahLst/>
            <a:cxnLst/>
            <a:rect l="l" t="t" r="r" b="b"/>
            <a:pathLst>
              <a:path w="4999676" h="4616616">
                <a:moveTo>
                  <a:pt x="4999676" y="0"/>
                </a:moveTo>
                <a:lnTo>
                  <a:pt x="0" y="0"/>
                </a:lnTo>
                <a:lnTo>
                  <a:pt x="0" y="4616616"/>
                </a:lnTo>
                <a:lnTo>
                  <a:pt x="4999676" y="4616616"/>
                </a:lnTo>
                <a:lnTo>
                  <a:pt x="4999676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-4023" r="-4023" b="-7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3013A1-95C2-4A7C-3D8B-B360446354B9}"/>
              </a:ext>
            </a:extLst>
          </p:cNvPr>
          <p:cNvSpPr/>
          <p:nvPr/>
        </p:nvSpPr>
        <p:spPr>
          <a:xfrm>
            <a:off x="0" y="5054637"/>
            <a:ext cx="5875597" cy="5425426"/>
          </a:xfrm>
          <a:custGeom>
            <a:avLst/>
            <a:gdLst/>
            <a:ahLst/>
            <a:cxnLst/>
            <a:rect l="l" t="t" r="r" b="b"/>
            <a:pathLst>
              <a:path w="5875597" h="5425426">
                <a:moveTo>
                  <a:pt x="0" y="0"/>
                </a:moveTo>
                <a:lnTo>
                  <a:pt x="5875597" y="0"/>
                </a:lnTo>
                <a:lnTo>
                  <a:pt x="5875597" y="5425427"/>
                </a:lnTo>
                <a:lnTo>
                  <a:pt x="0" y="542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-4023" r="-4023" b="-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E879999-0E08-D8AA-FFDE-AC6F2B19149F}"/>
              </a:ext>
            </a:extLst>
          </p:cNvPr>
          <p:cNvSpPr/>
          <p:nvPr/>
        </p:nvSpPr>
        <p:spPr>
          <a:xfrm>
            <a:off x="14962660" y="446511"/>
            <a:ext cx="2965344" cy="1164378"/>
          </a:xfrm>
          <a:custGeom>
            <a:avLst/>
            <a:gdLst/>
            <a:ahLst/>
            <a:cxnLst/>
            <a:rect l="l" t="t" r="r" b="b"/>
            <a:pathLst>
              <a:path w="2965344" h="1164378">
                <a:moveTo>
                  <a:pt x="0" y="0"/>
                </a:moveTo>
                <a:lnTo>
                  <a:pt x="2965344" y="0"/>
                </a:lnTo>
                <a:lnTo>
                  <a:pt x="2965344" y="1164378"/>
                </a:lnTo>
                <a:lnTo>
                  <a:pt x="0" y="116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F8AED7-9D67-67FF-FCB5-03515F0CF03F}"/>
              </a:ext>
            </a:extLst>
          </p:cNvPr>
          <p:cNvSpPr/>
          <p:nvPr/>
        </p:nvSpPr>
        <p:spPr>
          <a:xfrm>
            <a:off x="404210" y="452163"/>
            <a:ext cx="1621914" cy="1293147"/>
          </a:xfrm>
          <a:custGeom>
            <a:avLst/>
            <a:gdLst/>
            <a:ahLst/>
            <a:cxnLst/>
            <a:rect l="l" t="t" r="r" b="b"/>
            <a:pathLst>
              <a:path w="1621914" h="1293147">
                <a:moveTo>
                  <a:pt x="0" y="0"/>
                </a:moveTo>
                <a:lnTo>
                  <a:pt x="1621914" y="0"/>
                </a:lnTo>
                <a:lnTo>
                  <a:pt x="1621914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124C52-EC64-B144-4F6B-9C7B5981F6EC}"/>
              </a:ext>
            </a:extLst>
          </p:cNvPr>
          <p:cNvSpPr/>
          <p:nvPr/>
        </p:nvSpPr>
        <p:spPr>
          <a:xfrm>
            <a:off x="2274006" y="452163"/>
            <a:ext cx="1347189" cy="1293147"/>
          </a:xfrm>
          <a:custGeom>
            <a:avLst/>
            <a:gdLst/>
            <a:ahLst/>
            <a:cxnLst/>
            <a:rect l="l" t="t" r="r" b="b"/>
            <a:pathLst>
              <a:path w="1347189" h="1293147">
                <a:moveTo>
                  <a:pt x="0" y="0"/>
                </a:moveTo>
                <a:lnTo>
                  <a:pt x="1347189" y="0"/>
                </a:lnTo>
                <a:lnTo>
                  <a:pt x="1347189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1E76E-E5BD-8FB8-CF5A-2FF9DFF560AD}"/>
              </a:ext>
            </a:extLst>
          </p:cNvPr>
          <p:cNvSpPr txBox="1"/>
          <p:nvPr/>
        </p:nvSpPr>
        <p:spPr>
          <a:xfrm>
            <a:off x="603330" y="2077796"/>
            <a:ext cx="17377193" cy="7571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/>
              <a:t>Solutions Adopted</a:t>
            </a:r>
          </a:p>
          <a:p>
            <a:endParaRPr lang="en-US" sz="27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Used Hugging Face API for quick and accurate garment identification.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Used Gemini 3 Pro for complex reasoning, color interpretation, and structured JSON outputs.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Developed and tested the workflow in our Anti Gravity code editor, ensuring clean, modular, and well-structured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/>
              <a:t>Used Firebase transactions and real-time sync to prevent double-claiming and maintain a smooth, consistent catalogue.</a:t>
            </a:r>
          </a:p>
          <a:p>
            <a:endParaRPr lang="en-US" sz="2700" dirty="0"/>
          </a:p>
          <a:p>
            <a:r>
              <a:rPr lang="en-US" sz="2700" b="1" dirty="0"/>
              <a:t>Alternative Methods Explored</a:t>
            </a:r>
          </a:p>
          <a:p>
            <a:endParaRPr lang="en-US" sz="2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Tried YOLO models for on-device detection but were too resource-heavy.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Tested AWS </a:t>
            </a:r>
            <a:r>
              <a:rPr lang="en-US" sz="2700" dirty="0" err="1"/>
              <a:t>Rekognition</a:t>
            </a:r>
            <a:r>
              <a:rPr lang="en-US" sz="2700" dirty="0"/>
              <a:t> and </a:t>
            </a:r>
            <a:r>
              <a:rPr lang="en-US" sz="2700" dirty="0" err="1"/>
              <a:t>Supabase</a:t>
            </a:r>
            <a:r>
              <a:rPr lang="en-US" sz="2700" dirty="0"/>
              <a:t>, but Firebase + Gemini gave better accuracy and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Considered local vector search for style-matching but dropped due to time constraints.</a:t>
            </a:r>
          </a:p>
          <a:p>
            <a:endParaRPr lang="en-US" sz="2700" dirty="0"/>
          </a:p>
          <a:p>
            <a:r>
              <a:rPr lang="en-US" sz="2700" b="1" dirty="0"/>
              <a:t>Learning &amp; Improvements Made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Gained strong understanding of AI Vision APIs, prompting, and JSON responses.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Learned Firebase (storage, auth, </a:t>
            </a:r>
            <a:r>
              <a:rPr lang="en-US" sz="2700" dirty="0" err="1"/>
              <a:t>realtime</a:t>
            </a:r>
            <a:r>
              <a:rPr lang="en-US" sz="2700" dirty="0"/>
              <a:t> updates, transactions).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Improved debugging, API integration, teamwork, and workflow planning.</a:t>
            </a:r>
            <a:endParaRPr lang="en-IN" sz="2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E2807-1E14-0971-DFE2-FF2D0B717566}"/>
              </a:ext>
            </a:extLst>
          </p:cNvPr>
          <p:cNvSpPr txBox="1"/>
          <p:nvPr/>
        </p:nvSpPr>
        <p:spPr>
          <a:xfrm>
            <a:off x="5478672" y="711851"/>
            <a:ext cx="76265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SOLUTION IMPLEMENTED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383244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CF00C-2090-72A1-DE0B-34C3595A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DBAE29-5D76-5EBB-F084-00DD1E998B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45" b="-93558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F2ED11-E86C-2BFF-0DAA-A55D5E9C4436}"/>
              </a:ext>
            </a:extLst>
          </p:cNvPr>
          <p:cNvSpPr/>
          <p:nvPr/>
        </p:nvSpPr>
        <p:spPr>
          <a:xfrm flipH="1">
            <a:off x="13524356" y="5863448"/>
            <a:ext cx="4999676" cy="4616616"/>
          </a:xfrm>
          <a:custGeom>
            <a:avLst/>
            <a:gdLst/>
            <a:ahLst/>
            <a:cxnLst/>
            <a:rect l="l" t="t" r="r" b="b"/>
            <a:pathLst>
              <a:path w="4999676" h="4616616">
                <a:moveTo>
                  <a:pt x="4999676" y="0"/>
                </a:moveTo>
                <a:lnTo>
                  <a:pt x="0" y="0"/>
                </a:lnTo>
                <a:lnTo>
                  <a:pt x="0" y="4616616"/>
                </a:lnTo>
                <a:lnTo>
                  <a:pt x="4999676" y="4616616"/>
                </a:lnTo>
                <a:lnTo>
                  <a:pt x="4999676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-4023" r="-4023" b="-7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706784D-6793-0932-8D15-B596A95885FA}"/>
              </a:ext>
            </a:extLst>
          </p:cNvPr>
          <p:cNvSpPr/>
          <p:nvPr/>
        </p:nvSpPr>
        <p:spPr>
          <a:xfrm>
            <a:off x="0" y="5054637"/>
            <a:ext cx="5875597" cy="5425426"/>
          </a:xfrm>
          <a:custGeom>
            <a:avLst/>
            <a:gdLst/>
            <a:ahLst/>
            <a:cxnLst/>
            <a:rect l="l" t="t" r="r" b="b"/>
            <a:pathLst>
              <a:path w="5875597" h="5425426">
                <a:moveTo>
                  <a:pt x="0" y="0"/>
                </a:moveTo>
                <a:lnTo>
                  <a:pt x="5875597" y="0"/>
                </a:lnTo>
                <a:lnTo>
                  <a:pt x="5875597" y="5425427"/>
                </a:lnTo>
                <a:lnTo>
                  <a:pt x="0" y="5425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-4023" r="-4023" b="-7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EDDACC5-A62B-5E9A-6F5B-F6268F4EB838}"/>
              </a:ext>
            </a:extLst>
          </p:cNvPr>
          <p:cNvSpPr/>
          <p:nvPr/>
        </p:nvSpPr>
        <p:spPr>
          <a:xfrm>
            <a:off x="14962660" y="446511"/>
            <a:ext cx="2965344" cy="1164378"/>
          </a:xfrm>
          <a:custGeom>
            <a:avLst/>
            <a:gdLst/>
            <a:ahLst/>
            <a:cxnLst/>
            <a:rect l="l" t="t" r="r" b="b"/>
            <a:pathLst>
              <a:path w="2965344" h="1164378">
                <a:moveTo>
                  <a:pt x="0" y="0"/>
                </a:moveTo>
                <a:lnTo>
                  <a:pt x="2965344" y="0"/>
                </a:lnTo>
                <a:lnTo>
                  <a:pt x="2965344" y="1164378"/>
                </a:lnTo>
                <a:lnTo>
                  <a:pt x="0" y="116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360B78-E385-9753-A9CF-9BD06F235D43}"/>
              </a:ext>
            </a:extLst>
          </p:cNvPr>
          <p:cNvSpPr/>
          <p:nvPr/>
        </p:nvSpPr>
        <p:spPr>
          <a:xfrm>
            <a:off x="404210" y="452163"/>
            <a:ext cx="1621914" cy="1293147"/>
          </a:xfrm>
          <a:custGeom>
            <a:avLst/>
            <a:gdLst/>
            <a:ahLst/>
            <a:cxnLst/>
            <a:rect l="l" t="t" r="r" b="b"/>
            <a:pathLst>
              <a:path w="1621914" h="1293147">
                <a:moveTo>
                  <a:pt x="0" y="0"/>
                </a:moveTo>
                <a:lnTo>
                  <a:pt x="1621914" y="0"/>
                </a:lnTo>
                <a:lnTo>
                  <a:pt x="1621914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D654011-F173-A5FE-7C0E-F7316CF265FC}"/>
              </a:ext>
            </a:extLst>
          </p:cNvPr>
          <p:cNvSpPr/>
          <p:nvPr/>
        </p:nvSpPr>
        <p:spPr>
          <a:xfrm>
            <a:off x="2274006" y="452163"/>
            <a:ext cx="1347189" cy="1293147"/>
          </a:xfrm>
          <a:custGeom>
            <a:avLst/>
            <a:gdLst/>
            <a:ahLst/>
            <a:cxnLst/>
            <a:rect l="l" t="t" r="r" b="b"/>
            <a:pathLst>
              <a:path w="1347189" h="1293147">
                <a:moveTo>
                  <a:pt x="0" y="0"/>
                </a:moveTo>
                <a:lnTo>
                  <a:pt x="1347189" y="0"/>
                </a:lnTo>
                <a:lnTo>
                  <a:pt x="1347189" y="1293148"/>
                </a:lnTo>
                <a:lnTo>
                  <a:pt x="0" y="1293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36306-37FC-E26F-3EE0-BC835732EEBC}"/>
              </a:ext>
            </a:extLst>
          </p:cNvPr>
          <p:cNvSpPr txBox="1"/>
          <p:nvPr/>
        </p:nvSpPr>
        <p:spPr>
          <a:xfrm>
            <a:off x="6900052" y="718958"/>
            <a:ext cx="4783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CONCLUSION</a:t>
            </a:r>
            <a:endParaRPr lang="en-IN" sz="6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35C89-7D03-575A-C987-F78C429B3337}"/>
              </a:ext>
            </a:extLst>
          </p:cNvPr>
          <p:cNvSpPr txBox="1"/>
          <p:nvPr/>
        </p:nvSpPr>
        <p:spPr>
          <a:xfrm>
            <a:off x="3501206" y="2961068"/>
            <a:ext cx="115204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Our project successfully combined AI-powered image recognition with a real-time donation catalogue to make clothing reuse easier and more sustainable. By integrating advanced APIs and Firebase, we built a reliable system that reduces textile waste, simplifies donations, and encourages responsible community participation.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00782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532</Words>
  <Application>Microsoft Office PowerPoint</Application>
  <PresentationFormat>Custom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Canva Sans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Zonal Presentation Template</dc:title>
  <dc:creator>ASUS</dc:creator>
  <cp:lastModifiedBy>Not sʜɪɴᴏʙᴜ あ !</cp:lastModifiedBy>
  <cp:revision>10</cp:revision>
  <dcterms:created xsi:type="dcterms:W3CDTF">2006-08-16T00:00:00Z</dcterms:created>
  <dcterms:modified xsi:type="dcterms:W3CDTF">2026-06-16T06:20:32Z</dcterms:modified>
  <dc:identifier>DAG5cWNPAL8</dc:identifier>
</cp:coreProperties>
</file>